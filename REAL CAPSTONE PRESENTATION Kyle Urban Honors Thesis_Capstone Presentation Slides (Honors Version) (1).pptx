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6fc783a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6fc783a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6fc783aa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6fc783aa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6fc783aa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6fc783aa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b31730c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b31730c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6889d4a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6889d4a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6fc783aa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6fc783aa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6fc783aa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6fc783aa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ee01eb63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ee01eb63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ee01eb63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ee01eb63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6fc783aa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6fc783aa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ee01eb63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ee01eb63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ee01eb63d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ee01eb63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ee01eb63d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ee01eb63d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ee01eb63d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ee01eb63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ee01eb63d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ee01eb63d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ee01eb63d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ee01eb63d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ee01eb63d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ee01eb63d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6fc783aa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6fc783aa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ee01eb63d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ee01eb63d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ee01eb63d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ee01eb63d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6fc783aa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6fc783aa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6fc783aa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6fc783aa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6fc783aa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6fc783aa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ee01eb63d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ee01eb63d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ee01eb63d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ee01eb63d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ee01eb63d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ee01eb63d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ee01eb63d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ee01eb63d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ee01eb63d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ee01eb63d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ee01eb63d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ee01eb63d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ee01eb63d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ee01eb63d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ee01eb63d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ee01eb63d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ee01eb63d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ee01eb63d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ee01eb63d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ee01eb63d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ee01eb63d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ee01eb63d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6fc783aa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86fc783aa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6fc783aa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86fc783aa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91352ed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91352ed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6fc783aa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86fc783aa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6fc783aa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86fc783aa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87012c0b6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87012c0b6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7012c0b6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87012c0b6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7012c0b6d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87012c0b6d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7012c0b6d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87012c0b6d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7012c0b6d_3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87012c0b6d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7012c0b6d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87012c0b6d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7012c0b6d_3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87012c0b6d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87012c0b6d_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87012c0b6d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e0bb4311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de0bb431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86fc783aa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86fc783aa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87012c0b6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87012c0b6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e0bb4311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de0bb4311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de0bb4311e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de0bb4311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87012c0b6d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87012c0b6d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7012c0b6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7012c0b6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09050"/>
            <a:ext cx="8520600" cy="208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11"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" sz="4311"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" sz="4311">
                <a:latin typeface="Times New Roman"/>
                <a:ea typeface="Times New Roman"/>
                <a:cs typeface="Times New Roman"/>
                <a:sym typeface="Times New Roman"/>
              </a:rPr>
              <a:t> Natural Language Inference Abilities of a Large Language Model.”</a:t>
            </a:r>
            <a:endParaRPr sz="431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470050"/>
            <a:ext cx="8520600" cy="24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Kyle Urban 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Capstone Mentor: Dr Zachary Stine, PhD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Reader: Dr Matteo Fiorini, PhD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Capstone Monitor: Dr Tina Huddleson, JD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43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796200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Question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chemeClr val="dk1"/>
                </a:solidFill>
                <a:highlight>
                  <a:srgbClr val="F4CC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BERT Model/LLMs</a:t>
            </a:r>
            <a:endParaRPr sz="2300">
              <a:solidFill>
                <a:srgbClr val="000000"/>
              </a:solidFill>
              <a:highlight>
                <a:srgbClr val="C9DAF8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rgbClr val="000000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What is a Preposition?</a:t>
            </a:r>
            <a:endParaRPr sz="2300">
              <a:solidFill>
                <a:srgbClr val="000000"/>
              </a:solidFill>
              <a:highlight>
                <a:srgbClr val="C9DAF8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chemeClr val="dk1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Landmark &amp; Trajectory</a:t>
            </a:r>
            <a:endParaRPr sz="2300">
              <a:solidFill>
                <a:srgbClr val="000000"/>
              </a:solidFill>
              <a:highlight>
                <a:srgbClr val="C9DAF8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rgbClr val="000000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Logical Relationships</a:t>
            </a:r>
            <a:endParaRPr sz="2300">
              <a:solidFill>
                <a:srgbClr val="000000"/>
              </a:solidFill>
              <a:highlight>
                <a:srgbClr val="C9DAF8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chemeClr val="dk1"/>
                </a:solidFill>
                <a:highlight>
                  <a:srgbClr val="F4CC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MutliNLI</a:t>
            </a:r>
            <a:endParaRPr sz="2300">
              <a:solidFill>
                <a:srgbClr val="000000"/>
              </a:solidFill>
              <a:highlight>
                <a:srgbClr val="F4CC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(Set-up)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rgbClr val="000000"/>
                </a:solidFill>
                <a:highlight>
                  <a:srgbClr val="F4CC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 1</a:t>
            </a:r>
            <a:endParaRPr sz="2300">
              <a:solidFill>
                <a:srgbClr val="000000"/>
              </a:solidFill>
              <a:highlight>
                <a:srgbClr val="F4CC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rgbClr val="000000"/>
                </a:solidFill>
                <a:highlight>
                  <a:srgbClr val="F4CC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 2</a:t>
            </a:r>
            <a:endParaRPr sz="2300">
              <a:solidFill>
                <a:srgbClr val="000000"/>
              </a:solidFill>
              <a:highlight>
                <a:srgbClr val="F4CC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" name="Google Shape;62;p14" title="Bouncing A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4050" y="636775"/>
            <a:ext cx="4919626" cy="368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Central Question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</a:t>
            </a:r>
            <a:r>
              <a:rPr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influence do spatial prepositions have on the BERT LLM’s ability to encode logical relationships between sentences? 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BERT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Model &amp; LLMs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Language Model (LLM)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→ ANNs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823" y="2790798"/>
            <a:ext cx="1741300" cy="17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0775" y="2405237"/>
            <a:ext cx="2512450" cy="251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8663" y="258988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BERT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Model &amp; LLMs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(BERT)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Bidirectional Encoder Representations from Transformers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layers of neurons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(Delvin, et al. 2018)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051" y="3022076"/>
            <a:ext cx="3169146" cy="16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4875" y="2190175"/>
            <a:ext cx="165735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132275" y="1940450"/>
            <a:ext cx="8520600" cy="16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What is a preposition?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Any guesses?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11">
                <a:latin typeface="Times New Roman"/>
                <a:ea typeface="Times New Roman"/>
                <a:cs typeface="Times New Roman"/>
                <a:sym typeface="Times New Roman"/>
              </a:rPr>
              <a:t>Landmark &amp; Trajectory (L&amp;T)</a:t>
            </a:r>
            <a:endParaRPr sz="251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224525" y="4308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57200" lvl="0" marL="45720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(Evans. &amp; Green, pg 334-339, 2006)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406825" y="1075200"/>
            <a:ext cx="8338500" cy="3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Relations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Landmark — the reference point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Trajectory — motion in space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“St Paul’s Cathedral is over the bridge”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Landmark = [bridge]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Trajectory = [over]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“The cat hid in the closet”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Landmark = [closet]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Trajectory = [in]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Landmark &amp; Trajectory (L&amp;T)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13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Relations often embedded in prepositions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have multiple meanings or metaphorical extension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“he walked over a bridge” v.s “the bird flew over a wall”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0" l="0" r="0" t="37095"/>
          <a:stretch/>
        </p:blipFill>
        <p:spPr>
          <a:xfrm>
            <a:off x="117288" y="2488800"/>
            <a:ext cx="4591500" cy="21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 rotWithShape="1">
          <a:blip r:embed="rId4">
            <a:alphaModFix/>
          </a:blip>
          <a:srcRect b="0" l="0" r="0" t="24767"/>
          <a:stretch/>
        </p:blipFill>
        <p:spPr>
          <a:xfrm>
            <a:off x="4708763" y="2567258"/>
            <a:ext cx="4178425" cy="200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1801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Okay… but why does L&amp;T matter?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156200" y="2082050"/>
            <a:ext cx="8520600" cy="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Entailment!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(and its friends)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35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Logical Relationships (3 principle types)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930550"/>
            <a:ext cx="8520600" cy="39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Entailment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1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30"/>
              <a:buFont typeface="Times New Roman"/>
              <a:buChar char="●"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A → Sentence B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0"/>
              <a:buFont typeface="Times New Roman"/>
              <a:buChar char="●"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is true, B is true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0"/>
              <a:buFont typeface="Times New Roman"/>
              <a:buChar char="●"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The emperor was assassinated → The emperor is dead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Contradiction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1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30"/>
              <a:buFont typeface="Times New Roman"/>
              <a:buChar char="●"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A ⋀¬ Sentence B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0"/>
              <a:buFont typeface="Times New Roman"/>
              <a:buChar char="●"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is true, B is false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0"/>
              <a:buFont typeface="Times New Roman"/>
              <a:buChar char="●"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My car was stolen   </a:t>
            </a:r>
            <a:r>
              <a:rPr lang="en" sz="16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⋀¬ </a:t>
            </a: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My car is in my possession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Neutrality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1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30"/>
              <a:buFont typeface="Times New Roman"/>
              <a:buChar char="●"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A ≁ Sentence B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0"/>
              <a:buFont typeface="Times New Roman"/>
              <a:buChar char="●"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relation between A &amp; B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0"/>
              <a:buFont typeface="Times New Roman"/>
              <a:buChar char="●"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The lemons are spoiled  </a:t>
            </a:r>
            <a:r>
              <a:rPr lang="en" sz="16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≁ </a:t>
            </a: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child goes to school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Saeed</a:t>
            </a:r>
            <a:r>
              <a:rPr lang="en" sz="1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I. John, pp 94-97, 2016)</a:t>
            </a:r>
            <a:endParaRPr sz="1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2095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Logical Relationships — can you guess them?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1: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Sentence 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profile crowns Chris Rock The Funniest Man in America.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Sentence B: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Chris Rock has been crowned The Funniest Man in America.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</a:t>
            </a:r>
            <a:r>
              <a:rPr lang="en">
                <a:solidFill>
                  <a:srgbClr val="FF0000"/>
                </a:solidFill>
              </a:rPr>
              <a:t>Entailment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Sentence 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profile crowns Chris Rock The Funniest Man in America.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Sentence B: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Chris Rock has been crowned The Funniest Man in America.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2: 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A: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One thing was worrying me dreadfully, but my heart gave a great throb of relief when I saw my ulster lying carelessly over the back of a chair.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B: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 was dreadfully worried about many things.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</a:t>
            </a:r>
            <a:r>
              <a:rPr lang="en">
                <a:solidFill>
                  <a:srgbClr val="FF0000"/>
                </a:solidFill>
              </a:rPr>
              <a:t>Contradiction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A: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One thing was worrying me dreadfully, but my heart gave a great throb of relief when I saw my ulster lying carelessly over the back of a chair.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B: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 was dreadfully worried about many things.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3: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A: …and the wind started blowing and it was one of my earlier trips to be really out in the middle of…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B: I was scared and wanted to go home.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</a:t>
            </a:r>
            <a:r>
              <a:rPr lang="en">
                <a:solidFill>
                  <a:srgbClr val="FF0000"/>
                </a:solidFill>
              </a:rPr>
              <a:t>Neutral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A: …and the wind started blowing and it was one of my earlier trips to be really out in the middle of…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B: I was scared and wanted to go home.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MultiNLI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Corpus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311700" y="1214675"/>
            <a:ext cx="8520600" cy="3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433K sets of sentence pairs w/logical relation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Premise, Hypothesis, Gold Label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Train/test models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10K subset 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~33% ratio between labels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227975" y="1210600"/>
            <a:ext cx="8520600" cy="21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most importantly….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MultiNLI is rich with Spatial Prepositions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3" title="Holding han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512" y="0"/>
            <a:ext cx="717697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Meet the Prepositions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31155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Prepositions integral to context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in, out, over, under, above, below, inside, outside, around, behind, on, through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throughout, 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near, </a:t>
            </a: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beneath, into, beside, off, between, next, upon, from, 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top, in front, next to.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~4.5K </a:t>
            </a: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usage</a:t>
            </a: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instances in MultiNLI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311700" y="383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Set-Up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>
            <a:off x="311700" y="1144925"/>
            <a:ext cx="8520600" cy="34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MultiNLI subset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nly instances where P has spatial prepositions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instances, one having (control) &amp; one lacking (variable)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Control/Variable Creation (Set-up)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36"/>
          <p:cNvPicPr preferRelativeResize="0"/>
          <p:nvPr/>
        </p:nvPicPr>
        <p:blipFill rotWithShape="1">
          <a:blip r:embed="rId3">
            <a:alphaModFix/>
          </a:blip>
          <a:srcRect b="8617" l="0" r="0" t="0"/>
          <a:stretch/>
        </p:blipFill>
        <p:spPr>
          <a:xfrm>
            <a:off x="311700" y="1338000"/>
            <a:ext cx="4153525" cy="33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6"/>
          <p:cNvPicPr preferRelativeResize="0"/>
          <p:nvPr/>
        </p:nvPicPr>
        <p:blipFill rotWithShape="1">
          <a:blip r:embed="rId4">
            <a:alphaModFix/>
          </a:blip>
          <a:srcRect b="7244" l="0" r="0" t="0"/>
          <a:stretch/>
        </p:blipFill>
        <p:spPr>
          <a:xfrm>
            <a:off x="4977550" y="1089325"/>
            <a:ext cx="3780925" cy="359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title"/>
          </p:nvPr>
        </p:nvSpPr>
        <p:spPr>
          <a:xfrm>
            <a:off x="108350" y="2167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Visualize.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You are the model.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1 (Modified):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A*: Neither does it include the mail sent response to advertising.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B: The mail sent in response to advertising is included 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1" name="Google Shape;211;p38"/>
          <p:cNvSpPr txBox="1"/>
          <p:nvPr/>
        </p:nvSpPr>
        <p:spPr>
          <a:xfrm>
            <a:off x="551575" y="3423700"/>
            <a:ext cx="77511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Can you guess? Is it Entailment, Contradiction, or Neutral?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1 (Unmodified):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A: Neither does it include the mail sent </a:t>
            </a:r>
            <a:r>
              <a:rPr b="1" lang="en" u="sng">
                <a:solidFill>
                  <a:srgbClr val="FF0000"/>
                </a:solidFill>
              </a:rPr>
              <a:t>in</a:t>
            </a:r>
            <a:r>
              <a:rPr lang="en">
                <a:solidFill>
                  <a:srgbClr val="000000"/>
                </a:solidFill>
              </a:rPr>
              <a:t> response to advertising.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B: The mail sent in response to advertising is included 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8" name="Google Shape;218;p39"/>
          <p:cNvSpPr txBox="1"/>
          <p:nvPr/>
        </p:nvSpPr>
        <p:spPr>
          <a:xfrm>
            <a:off x="611350" y="3372775"/>
            <a:ext cx="69018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How about now?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/>
          <p:nvPr>
            <p:ph type="title"/>
          </p:nvPr>
        </p:nvSpPr>
        <p:spPr>
          <a:xfrm>
            <a:off x="2751850" y="2215350"/>
            <a:ext cx="405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</a:t>
            </a:r>
            <a:r>
              <a:rPr lang="en">
                <a:solidFill>
                  <a:srgbClr val="FF0000"/>
                </a:solidFill>
              </a:rPr>
              <a:t>Contradiction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 (Modified):</a:t>
            </a:r>
            <a:endParaRPr/>
          </a:p>
        </p:txBody>
      </p:sp>
      <p:sp>
        <p:nvSpPr>
          <p:cNvPr id="229" name="Google Shape;22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Sentence A*: Then he gave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Sentence B: He gave in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 (Unmodified):</a:t>
            </a:r>
            <a:endParaRPr/>
          </a:p>
        </p:txBody>
      </p:sp>
      <p:sp>
        <p:nvSpPr>
          <p:cNvPr id="235" name="Google Shape;23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Sentence A: Then he gave </a:t>
            </a:r>
            <a:r>
              <a:rPr b="1" lang="en" u="sng">
                <a:solidFill>
                  <a:srgbClr val="FF0000"/>
                </a:solidFill>
              </a:rPr>
              <a:t>in</a:t>
            </a:r>
            <a:endParaRPr b="1" u="sng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Sentence B: He gave in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/>
          <p:nvPr>
            <p:ph type="title"/>
          </p:nvPr>
        </p:nvSpPr>
        <p:spPr>
          <a:xfrm>
            <a:off x="2992800" y="2285400"/>
            <a:ext cx="315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</a:t>
            </a:r>
            <a:r>
              <a:rPr lang="en">
                <a:solidFill>
                  <a:srgbClr val="FF0000"/>
                </a:solidFill>
              </a:rPr>
              <a:t>Entailment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3 (Modified):</a:t>
            </a:r>
            <a:endParaRPr/>
          </a:p>
        </p:txBody>
      </p:sp>
      <p:sp>
        <p:nvSpPr>
          <p:cNvPr id="246" name="Google Shape;24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A*: “Oh, i i haven't quite worked that.”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B: I am still processing the whole thing.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3 (Unmodified):</a:t>
            </a:r>
            <a:endParaRPr/>
          </a:p>
        </p:txBody>
      </p:sp>
      <p:sp>
        <p:nvSpPr>
          <p:cNvPr id="252" name="Google Shape;25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A: “</a:t>
            </a:r>
            <a:r>
              <a:rPr lang="en">
                <a:solidFill>
                  <a:srgbClr val="000000"/>
                </a:solidFill>
              </a:rPr>
              <a:t>Oh, I I haven't quite worked that </a:t>
            </a:r>
            <a:r>
              <a:rPr b="1" lang="en" u="sng">
                <a:solidFill>
                  <a:srgbClr val="FF0000"/>
                </a:solidFill>
              </a:rPr>
              <a:t>out</a:t>
            </a:r>
            <a:r>
              <a:rPr lang="en">
                <a:solidFill>
                  <a:srgbClr val="000000"/>
                </a:solidFill>
              </a:rPr>
              <a:t>.”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Sentence B: I am still processing the whole thing.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/>
        </p:nvSpPr>
        <p:spPr>
          <a:xfrm>
            <a:off x="3003700" y="2263950"/>
            <a:ext cx="577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Answer: </a:t>
            </a:r>
            <a:r>
              <a:rPr lang="en" sz="2800">
                <a:solidFill>
                  <a:srgbClr val="FF0000"/>
                </a:solidFill>
              </a:rPr>
              <a:t>Entailment</a:t>
            </a:r>
            <a:endParaRPr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 txBox="1"/>
          <p:nvPr>
            <p:ph type="title"/>
          </p:nvPr>
        </p:nvSpPr>
        <p:spPr>
          <a:xfrm>
            <a:off x="2262075" y="1999050"/>
            <a:ext cx="3983100" cy="17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 it easy?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happened in your head?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Experiment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48"/>
          <p:cNvSpPr txBox="1"/>
          <p:nvPr>
            <p:ph idx="1" type="body"/>
          </p:nvPr>
        </p:nvSpPr>
        <p:spPr>
          <a:xfrm>
            <a:off x="311700" y="1152475"/>
            <a:ext cx="581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“Lobotomy Approach”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 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embeds language via mathematical representation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Model trains and tests off BERT’s mathematical representations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Indicative?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9" name="Google Shape;26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6500" y="3039763"/>
            <a:ext cx="1924575" cy="192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9025" y="445026"/>
            <a:ext cx="2677575" cy="16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8"/>
          <p:cNvSpPr/>
          <p:nvPr/>
        </p:nvSpPr>
        <p:spPr>
          <a:xfrm>
            <a:off x="7025900" y="2141188"/>
            <a:ext cx="404700" cy="751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9"/>
          <p:cNvSpPr txBox="1"/>
          <p:nvPr>
            <p:ph type="title"/>
          </p:nvPr>
        </p:nvSpPr>
        <p:spPr>
          <a:xfrm>
            <a:off x="222200" y="170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How BERT encodes (Exp 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7" name="Google Shape;277;p49"/>
          <p:cNvPicPr preferRelativeResize="0"/>
          <p:nvPr/>
        </p:nvPicPr>
        <p:blipFill rotWithShape="1">
          <a:blip r:embed="rId3">
            <a:alphaModFix/>
          </a:blip>
          <a:srcRect b="5509" l="0" r="0" t="0"/>
          <a:stretch/>
        </p:blipFill>
        <p:spPr>
          <a:xfrm>
            <a:off x="548487" y="656500"/>
            <a:ext cx="7868022" cy="4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0"/>
          <p:cNvSpPr txBox="1"/>
          <p:nvPr>
            <p:ph type="title"/>
          </p:nvPr>
        </p:nvSpPr>
        <p:spPr>
          <a:xfrm>
            <a:off x="186750" y="17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How BERT encodes (Exp 1)</a:t>
            </a:r>
            <a:endParaRPr/>
          </a:p>
        </p:txBody>
      </p:sp>
      <p:pic>
        <p:nvPicPr>
          <p:cNvPr id="283" name="Google Shape;283;p50" title="Copy of Capstone Figure 13.png"/>
          <p:cNvPicPr preferRelativeResize="0"/>
          <p:nvPr/>
        </p:nvPicPr>
        <p:blipFill rotWithShape="1">
          <a:blip r:embed="rId3">
            <a:alphaModFix/>
          </a:blip>
          <a:srcRect b="7484" l="0" r="0" t="0"/>
          <a:stretch/>
        </p:blipFill>
        <p:spPr>
          <a:xfrm>
            <a:off x="590000" y="840575"/>
            <a:ext cx="8117349" cy="385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Classification Model Innerworkings (Exp 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9" name="Google Shape;289;p51"/>
          <p:cNvPicPr preferRelativeResize="0"/>
          <p:nvPr/>
        </p:nvPicPr>
        <p:blipFill rotWithShape="1">
          <a:blip r:embed="rId3">
            <a:alphaModFix/>
          </a:blip>
          <a:srcRect b="6332" l="0" r="0" t="0"/>
          <a:stretch/>
        </p:blipFill>
        <p:spPr>
          <a:xfrm>
            <a:off x="311700" y="1119875"/>
            <a:ext cx="3815776" cy="311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3550" y="805438"/>
            <a:ext cx="4920441" cy="353262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51"/>
          <p:cNvSpPr txBox="1"/>
          <p:nvPr/>
        </p:nvSpPr>
        <p:spPr>
          <a:xfrm>
            <a:off x="1994475" y="4634050"/>
            <a:ext cx="4459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“Feed BERT’s brains to classification model”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type="title"/>
          </p:nvPr>
        </p:nvSpPr>
        <p:spPr>
          <a:xfrm>
            <a:off x="311713" y="242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Experiment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52"/>
          <p:cNvSpPr txBox="1"/>
          <p:nvPr>
            <p:ph idx="1" type="body"/>
          </p:nvPr>
        </p:nvSpPr>
        <p:spPr>
          <a:xfrm>
            <a:off x="311700" y="952700"/>
            <a:ext cx="8520600" cy="4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better than random guessing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013" y="1507575"/>
            <a:ext cx="8178026" cy="3453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Experiment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Char char="●"/>
            </a:pPr>
            <a:r>
              <a:rPr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Attempted Improvements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Dimensionality Reduction (</a:t>
            </a: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Principal</a:t>
            </a: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 Analysis)  Ax = λx 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Search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Pooling &amp; Joint Embeddings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Classifier v.s Stratified K Cross Fold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5" name="Google Shape;305;p53"/>
          <p:cNvPicPr preferRelativeResize="0"/>
          <p:nvPr/>
        </p:nvPicPr>
        <p:blipFill rotWithShape="1">
          <a:blip r:embed="rId3">
            <a:alphaModFix/>
          </a:blip>
          <a:srcRect b="0" l="892" r="0" t="4871"/>
          <a:stretch/>
        </p:blipFill>
        <p:spPr>
          <a:xfrm>
            <a:off x="536175" y="3669900"/>
            <a:ext cx="8071625" cy="13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Experiment 1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Highest CLF Model performance was around 49%~50%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 dissimilarity in performance between control &amp; variable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Underfitting data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but we just can’t see it.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038" y="242573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Experiment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55"/>
          <p:cNvSpPr txBox="1"/>
          <p:nvPr>
            <p:ph idx="1" type="body"/>
          </p:nvPr>
        </p:nvSpPr>
        <p:spPr>
          <a:xfrm>
            <a:off x="311700" y="1017725"/>
            <a:ext cx="5051400" cy="18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“Classroom Approach”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Fine-tune BERT itself on control dataset subset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BERT on holdout subsets of control &amp; variable.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comparable between sets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9" name="Google Shape;319;p55"/>
          <p:cNvPicPr preferRelativeResize="0"/>
          <p:nvPr/>
        </p:nvPicPr>
        <p:blipFill rotWithShape="1">
          <a:blip r:embed="rId3">
            <a:alphaModFix/>
          </a:blip>
          <a:srcRect b="13901" l="0" r="0" t="10388"/>
          <a:stretch/>
        </p:blipFill>
        <p:spPr>
          <a:xfrm>
            <a:off x="5951550" y="883025"/>
            <a:ext cx="2219325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Test/Train per trial diagram (Exp 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5" name="Google Shape;325;p56" title="Train Test Experiment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300" y="1017725"/>
            <a:ext cx="6024425" cy="369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57"/>
          <p:cNvSpPr txBox="1"/>
          <p:nvPr>
            <p:ph idx="1" type="body"/>
          </p:nvPr>
        </p:nvSpPr>
        <p:spPr>
          <a:xfrm>
            <a:off x="311700" y="1152475"/>
            <a:ext cx="436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Experiment 2: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Control: 69.3%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Variable: 68.4%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a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difference in performance.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Linguistic Implications?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Diminished roll of prepositions.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Conclusive?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2" name="Google Shape;332;p57"/>
          <p:cNvPicPr preferRelativeResize="0"/>
          <p:nvPr/>
        </p:nvPicPr>
        <p:blipFill rotWithShape="1">
          <a:blip r:embed="rId3">
            <a:alphaModFix/>
          </a:blip>
          <a:srcRect b="0" l="7561" r="0" t="0"/>
          <a:stretch/>
        </p:blipFill>
        <p:spPr>
          <a:xfrm>
            <a:off x="5109025" y="499088"/>
            <a:ext cx="2870200" cy="414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Constraints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regularization strategy for experiment 2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○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AdamW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Data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○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433k dataset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Model? 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○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RoBERTa, SBERT</a:t>
            </a:r>
            <a:r>
              <a:rPr lang="en" sz="19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sz="19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9" name="Google Shape;339;p58"/>
          <p:cNvPicPr preferRelativeResize="0"/>
          <p:nvPr/>
        </p:nvPicPr>
        <p:blipFill rotWithShape="1">
          <a:blip r:embed="rId3">
            <a:alphaModFix/>
          </a:blip>
          <a:srcRect b="10595" l="0" r="0" t="0"/>
          <a:stretch/>
        </p:blipFill>
        <p:spPr>
          <a:xfrm>
            <a:off x="6057875" y="2047600"/>
            <a:ext cx="2499500" cy="162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1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51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Prepositions did not demonstrate a significant influence on BERT’s encoding of logical relations between sentences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Though, additional follow up is needed due to limitations.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Sources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60"/>
          <p:cNvSpPr txBox="1"/>
          <p:nvPr>
            <p:ph idx="1" type="body"/>
          </p:nvPr>
        </p:nvSpPr>
        <p:spPr>
          <a:xfrm>
            <a:off x="311700" y="1139775"/>
            <a:ext cx="8520600" cy="18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Bowman, R. Samuel, et al. “A Broad-Coverage Challenge Corpus for Sentence Understanding through Inference”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ArXiv.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Feb, 2018. https://doi.org/10.48550/arXiv.1704.05426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Conneau, Alexis, et al. “Supervised Learning of Universal Sentence Representations from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Language Inference Data”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ArXiv.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Jul, 2018. https://arxiv.org/pdf/1705.02364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Delvin, Jacob, et al. “BERT: Pre-training of Deep Bidirectional Transformers for Language Understanding”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ArXiv.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Oct, 2018. https://doi.org/10.48550/arXiv.1810.04805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Evans, Vyvyan. &amp; Green, Melanie. “Cognitive Linguistics: An Introduction.”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LAWRENCE ERLBAUM ASSOCIATES.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2006. pg 334-339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Saeed, I. John. “Semantics”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WILEY Blackwell.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4th ed. 2016. pp 94-97.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1"/>
          <p:cNvSpPr txBox="1"/>
          <p:nvPr>
            <p:ph type="title"/>
          </p:nvPr>
        </p:nvSpPr>
        <p:spPr>
          <a:xfrm>
            <a:off x="311700" y="2177725"/>
            <a:ext cx="8520600" cy="9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Appendix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Informative CLS vectors (Exp 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2" name="Google Shape;362;p62"/>
          <p:cNvPicPr preferRelativeResize="0"/>
          <p:nvPr/>
        </p:nvPicPr>
        <p:blipFill rotWithShape="1">
          <a:blip r:embed="rId3">
            <a:alphaModFix/>
          </a:blip>
          <a:srcRect b="10921" l="0" r="0" t="0"/>
          <a:stretch/>
        </p:blipFill>
        <p:spPr>
          <a:xfrm>
            <a:off x="204750" y="1103450"/>
            <a:ext cx="5217599" cy="29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62"/>
          <p:cNvPicPr preferRelativeResize="0"/>
          <p:nvPr/>
        </p:nvPicPr>
        <p:blipFill rotWithShape="1">
          <a:blip r:embed="rId4">
            <a:alphaModFix/>
          </a:blip>
          <a:srcRect b="16381" l="0" r="0" t="0"/>
          <a:stretch/>
        </p:blipFill>
        <p:spPr>
          <a:xfrm>
            <a:off x="5422350" y="1453575"/>
            <a:ext cx="3409950" cy="2586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2"/>
          <p:cNvSpPr txBox="1"/>
          <p:nvPr/>
        </p:nvSpPr>
        <p:spPr>
          <a:xfrm>
            <a:off x="418525" y="4279025"/>
            <a:ext cx="8031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Conneau, et al. 2018)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3"/>
          <p:cNvSpPr txBox="1"/>
          <p:nvPr>
            <p:ph type="title"/>
          </p:nvPr>
        </p:nvSpPr>
        <p:spPr>
          <a:xfrm>
            <a:off x="311713" y="182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Hyperparameter Search (Exp 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0" name="Google Shape;37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475" y="755450"/>
            <a:ext cx="6983104" cy="42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Pool, Joint Mean Pool, Random Forest (Exp 1)</a:t>
            </a:r>
            <a:endParaRPr/>
          </a:p>
        </p:txBody>
      </p:sp>
      <p:pic>
        <p:nvPicPr>
          <p:cNvPr id="376" name="Google Shape;376;p64"/>
          <p:cNvPicPr preferRelativeResize="0"/>
          <p:nvPr/>
        </p:nvPicPr>
        <p:blipFill rotWithShape="1">
          <a:blip r:embed="rId3">
            <a:alphaModFix/>
          </a:blip>
          <a:srcRect b="0" l="527" r="0" t="0"/>
          <a:stretch/>
        </p:blipFill>
        <p:spPr>
          <a:xfrm>
            <a:off x="1371402" y="1017725"/>
            <a:ext cx="6401199" cy="39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Mean Pool, Joint Mean Pool, Random Forest (Exp 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2" name="Google Shape;38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13900"/>
            <a:ext cx="7984575" cy="13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65"/>
          <p:cNvPicPr preferRelativeResize="0"/>
          <p:nvPr/>
        </p:nvPicPr>
        <p:blipFill rotWithShape="1">
          <a:blip r:embed="rId4">
            <a:alphaModFix/>
          </a:blip>
          <a:srcRect b="0" l="1344" r="1295" t="3110"/>
          <a:stretch/>
        </p:blipFill>
        <p:spPr>
          <a:xfrm>
            <a:off x="1424275" y="3148450"/>
            <a:ext cx="6093200" cy="141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Experiment 2 (Control Results)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9" name="Google Shape;38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200" y="1093925"/>
            <a:ext cx="655253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Experiment 2 (Variable Results)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5" name="Google Shape;39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325" y="1017725"/>
            <a:ext cx="6555599" cy="38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